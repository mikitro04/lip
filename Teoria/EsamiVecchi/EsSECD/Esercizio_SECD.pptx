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9" r:id="rId2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4E2DBF-F5D4-8625-41D3-F58C57FF0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AD5B58-5402-959F-21D1-5134730D2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A0FB39-65DA-D997-C57A-CCA4796F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DDD4-D249-4AC0-83D7-934F0E45B8B3}" type="datetimeFigureOut">
              <a:rPr lang="it-IT" smtClean="0"/>
              <a:t>05/12/2022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5D989C-4A21-DC5A-2AC2-ED083CC14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3152A8-BB3A-64E2-5094-6E6B27015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DDDC-FB48-4B00-B1B1-E36FB5F4F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894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24E0B-A43D-FDDC-A7E6-D88DB306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C5E61B9-B09D-1AB1-30D5-25409C1BF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C7A7DA-9AB5-C601-BBF2-639F1951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DDD4-D249-4AC0-83D7-934F0E45B8B3}" type="datetimeFigureOut">
              <a:rPr lang="it-IT" smtClean="0"/>
              <a:t>05/12/2022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8B268B-8A30-5065-B3C6-B9A97A85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BC0AC1-5F3E-9FCD-8172-31D83E13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DDDC-FB48-4B00-B1B1-E36FB5F4F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0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98C07A-66C8-4470-8FA6-3479F4715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FF0AA9D-C7F5-5D71-2947-BFEF859B5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4EA88A-7D97-63B4-7703-18CE18648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DDD4-D249-4AC0-83D7-934F0E45B8B3}" type="datetimeFigureOut">
              <a:rPr lang="it-IT" smtClean="0"/>
              <a:t>05/12/2022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D82563-C193-F6E1-979D-E3E40918C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060011-7E35-40DE-7A8E-1233485F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DDDC-FB48-4B00-B1B1-E36FB5F4F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3138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B5EF1A-2B41-49CB-0C58-BF49155E8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91BD80-43A9-7D2E-A597-821E6343F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9C49C92-367F-61F5-3386-A306C5856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B8DEDFC-3367-4175-4B0B-56E4C4F0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DDD4-D249-4AC0-83D7-934F0E45B8B3}" type="datetimeFigureOut">
              <a:rPr lang="it-IT" smtClean="0"/>
              <a:t>05/12/2022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22C4D2B-E9F2-4054-FC77-3CB6B841C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9E0B4B1-30CA-5E47-EAEC-D082EB94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DDDC-FB48-4B00-B1B1-E36FB5F4F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7265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0F6F30-3A9F-87D0-C1F6-70299FEC7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4E1D9FB-DA23-1838-E3A1-D6D42E4BE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7437A50-6042-3617-DE48-EB39431B3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09A3D5B-D16D-6A0D-FFC8-6327FFB3A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6EAC04F-53EE-B27C-1113-4DC709B63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E45A9A7-75F0-0985-A28D-4AC59A1D3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DDD4-D249-4AC0-83D7-934F0E45B8B3}" type="datetimeFigureOut">
              <a:rPr lang="it-IT" smtClean="0"/>
              <a:t>05/12/2022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9C83384-A8DD-1ED0-4974-9FB109915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3B50CA2-677E-881A-C408-E048563E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DDDC-FB48-4B00-B1B1-E36FB5F4F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1229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595D17-8E18-60F9-1641-51C0D92E6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81AC457-A1BF-05BE-EE66-C2566F865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DDD4-D249-4AC0-83D7-934F0E45B8B3}" type="datetimeFigureOut">
              <a:rPr lang="it-IT" smtClean="0"/>
              <a:t>05/12/2022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5E29A68-67FD-2CFA-90AA-D104321C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64B8872-31FF-35F6-F7E2-81BA88459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DDDC-FB48-4B00-B1B1-E36FB5F4F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968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6F05DDA-5F81-BC15-BE38-09391B6C7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DDD4-D249-4AC0-83D7-934F0E45B8B3}" type="datetimeFigureOut">
              <a:rPr lang="it-IT" smtClean="0"/>
              <a:t>05/12/2022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6CC326B-AAAC-BE77-CE3F-1358EE084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D3C8C9A-A877-C793-6EB3-5F1FD494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DDDC-FB48-4B00-B1B1-E36FB5F4F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14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046907-D881-0443-3558-08274BCB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1376A9-869C-CA08-40AB-0B93CCB29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0BDD52-50AE-2373-3883-41D7327EE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891FADD-1BB7-7855-EE51-9F6E7E4FE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DDD4-D249-4AC0-83D7-934F0E45B8B3}" type="datetimeFigureOut">
              <a:rPr lang="it-IT" smtClean="0"/>
              <a:t>05/12/2022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D017FC7-EC78-EDF6-BB63-57861D04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0A75146-8010-E7AF-F37A-D3B6E2809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DDDC-FB48-4B00-B1B1-E36FB5F4F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164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DE3752-39F2-D33B-A765-F95447481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6DA002D-52DA-E17E-0DAD-2BD8E06DB3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941FDAA-6BB3-3EA9-0334-5B36E4847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0BAE9CA-4A49-3F61-D238-D56E453D2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DDD4-D249-4AC0-83D7-934F0E45B8B3}" type="datetimeFigureOut">
              <a:rPr lang="it-IT" smtClean="0"/>
              <a:t>05/12/2022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AA053D7-8BDF-A523-FD5A-0BD95BFAB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17923D8-D56A-59E3-A6BD-379D07CA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DDDC-FB48-4B00-B1B1-E36FB5F4F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240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882568-7E32-A50F-B7C8-C1B2FE3F0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2E368E7-F243-166A-C3FB-1B7EA4CEC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D9AEFC8-6918-321C-155A-57A2DBB8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DDD4-D249-4AC0-83D7-934F0E45B8B3}" type="datetimeFigureOut">
              <a:rPr lang="it-IT" smtClean="0"/>
              <a:t>05/12/2022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212ABF6-4016-973B-60B6-18853C920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FDF3E96-4F4E-C36F-D43A-5BEBEE11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DDDC-FB48-4B00-B1B1-E36FB5F4F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425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BC12FA0-14DC-EC98-4A2B-8308FB9175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7E8CB6B-D21C-F120-BC7D-4E9D721EF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70FC543-D4BD-C6CE-8FB0-14496CF3A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4DDD4-D249-4AC0-83D7-934F0E45B8B3}" type="datetimeFigureOut">
              <a:rPr lang="it-IT" smtClean="0"/>
              <a:t>05/12/2022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254CE7A-52E7-1271-193A-7DC25478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E76613E-36F5-22D8-7E8B-74D2F27F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BDDDC-FB48-4B00-B1B1-E36FB5F4F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531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D313EA6-DFEC-DA25-DEE4-A7072F6E5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84904C5-2E83-D321-7B8A-9C52EE988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8247ED4-9F7F-E78C-BEA9-ADD9F4821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74DDD4-D249-4AC0-83D7-934F0E45B8B3}" type="datetimeFigureOut">
              <a:rPr lang="it-IT" smtClean="0"/>
              <a:t>05/12/2022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DC5BB0-EAF0-0EFE-687A-7A29D2AFF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A8DC179-3925-0C67-6736-7087B748C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BDDDC-FB48-4B00-B1B1-E36FB5F4FD4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6030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7A4764-4113-F457-0351-E57B9E9B5E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Esercizio SECD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F8584AA-6C03-77BE-4529-4577680CB2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 err="1"/>
              <a:t>Diocane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4720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8497BF-6F89-D90B-AB92-7F70D1B47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Consegna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9B4988-E0A5-147C-CA07-979D3BDDA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09015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Calcolare il risultato della seguente espressione utilizzando la SECD machine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EA291A3-BB34-D532-BC11-C60568E1399F}"/>
              </a:ext>
            </a:extLst>
          </p:cNvPr>
          <p:cNvSpPr txBox="1"/>
          <p:nvPr/>
        </p:nvSpPr>
        <p:spPr>
          <a:xfrm>
            <a:off x="838200" y="3421380"/>
            <a:ext cx="10515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0" dirty="0">
                <a:effectLst/>
              </a:rPr>
              <a:t>([ ], ⊥, </a:t>
            </a:r>
            <a:r>
              <a:rPr lang="en-US" sz="2200" b="1" dirty="0">
                <a:effectLst/>
              </a:rPr>
              <a:t>apply</a:t>
            </a:r>
            <a:r>
              <a:rPr lang="en-US" sz="2200" b="0" dirty="0">
                <a:effectLst/>
              </a:rPr>
              <a:t>(</a:t>
            </a:r>
            <a:r>
              <a:rPr lang="en-US" sz="2200" b="1" dirty="0">
                <a:effectLst/>
              </a:rPr>
              <a:t>fun</a:t>
            </a:r>
            <a:r>
              <a:rPr lang="en-US" sz="2200" b="0" dirty="0">
                <a:effectLst/>
              </a:rPr>
              <a:t>(f, x, </a:t>
            </a:r>
            <a:r>
              <a:rPr lang="en-US" sz="2200" b="1" dirty="0">
                <a:effectLst/>
              </a:rPr>
              <a:t>apply</a:t>
            </a:r>
            <a:r>
              <a:rPr lang="en-US" sz="2200" b="0" dirty="0">
                <a:effectLst/>
              </a:rPr>
              <a:t>(x, </a:t>
            </a:r>
            <a:r>
              <a:rPr lang="en-US" sz="2200" b="1" dirty="0">
                <a:effectLst/>
              </a:rPr>
              <a:t>apply</a:t>
            </a:r>
            <a:r>
              <a:rPr lang="en-US" sz="2200" b="0" dirty="0">
                <a:effectLst/>
              </a:rPr>
              <a:t>(</a:t>
            </a:r>
            <a:r>
              <a:rPr lang="en-US" sz="2200" b="1" dirty="0">
                <a:effectLst/>
              </a:rPr>
              <a:t>fun</a:t>
            </a:r>
            <a:r>
              <a:rPr lang="en-US" sz="2200" b="0" dirty="0">
                <a:effectLst/>
              </a:rPr>
              <a:t>(g, y, </a:t>
            </a:r>
            <a:r>
              <a:rPr lang="en-US" sz="2200" dirty="0">
                <a:effectLst/>
              </a:rPr>
              <a:t>times</a:t>
            </a:r>
            <a:r>
              <a:rPr lang="en-US" sz="2200" b="0" dirty="0">
                <a:effectLst/>
              </a:rPr>
              <a:t>(y, 2)), 1))), </a:t>
            </a:r>
            <a:r>
              <a:rPr lang="en-US" sz="2200" b="1" dirty="0">
                <a:effectLst/>
              </a:rPr>
              <a:t>fun</a:t>
            </a:r>
            <a:r>
              <a:rPr lang="en-US" sz="2200" b="0" dirty="0">
                <a:effectLst/>
              </a:rPr>
              <a:t>(h, z, diff(8, z))) :: [ ]) :: [ ]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4748B53-1429-0821-5BD6-603361A240F9}"/>
              </a:ext>
            </a:extLst>
          </p:cNvPr>
          <p:cNvSpPr txBox="1"/>
          <p:nvPr/>
        </p:nvSpPr>
        <p:spPr>
          <a:xfrm>
            <a:off x="838200" y="463296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Dove </a:t>
            </a:r>
            <a:r>
              <a:rPr lang="it-IT" b="1" dirty="0"/>
              <a:t>times</a:t>
            </a:r>
            <a:r>
              <a:rPr lang="it-IT" dirty="0"/>
              <a:t> è l’operazione di moltiplicazione aritmetica e </a:t>
            </a:r>
            <a:r>
              <a:rPr lang="it-IT" b="1" dirty="0"/>
              <a:t>diff </a:t>
            </a:r>
            <a:r>
              <a:rPr lang="it-IT" dirty="0"/>
              <a:t>è la sottrazione aritmetica</a:t>
            </a:r>
          </a:p>
        </p:txBody>
      </p:sp>
    </p:spTree>
    <p:extLst>
      <p:ext uri="{BB962C8B-B14F-4D97-AF65-F5344CB8AC3E}">
        <p14:creationId xmlns:p14="http://schemas.microsoft.com/office/powerpoint/2010/main" val="293099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0606972"/>
              </p:ext>
            </p:extLst>
          </p:nvPr>
        </p:nvGraphicFramePr>
        <p:xfrm>
          <a:off x="838200" y="2223407"/>
          <a:ext cx="10515600" cy="2411185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82237">
                <a:tc>
                  <a:txBody>
                    <a:bodyPr/>
                    <a:lstStyle/>
                    <a:p>
                      <a:pPr algn="ctr" fontAlgn="ctr"/>
                      <a:endParaRPr lang="it-IT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92" marR="6392" marT="639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92" marR="6392" marT="639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92" marR="6392" marT="639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92" marR="6392" marT="6392" marB="0" anchor="ctr"/>
                </a:tc>
                <a:extLst>
                  <a:ext uri="{0D108BD9-81ED-4DB2-BD59-A6C34878D82A}">
                    <a16:rowId xmlns:a16="http://schemas.microsoft.com/office/drawing/2014/main" val="2765535837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endParaRPr lang="it-IT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92" marR="6392" marT="639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92" marR="6392" marT="639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92" marR="6392" marT="639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92" marR="6392" marT="6392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endParaRPr lang="it-IT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92" marR="6392" marT="639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92" marR="6392" marT="639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92" marR="6392" marT="639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92" marR="6392" marT="6392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endParaRPr lang="it-IT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407AF9C3-A742-1D59-0D92-3343CD39A381}"/>
              </a:ext>
            </a:extLst>
          </p:cNvPr>
          <p:cNvSpPr txBox="1"/>
          <p:nvPr/>
        </p:nvSpPr>
        <p:spPr>
          <a:xfrm>
            <a:off x="5404485" y="1097280"/>
            <a:ext cx="138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Stato iniziale</a:t>
            </a:r>
          </a:p>
        </p:txBody>
      </p:sp>
    </p:spTree>
    <p:extLst>
      <p:ext uri="{BB962C8B-B14F-4D97-AF65-F5344CB8AC3E}">
        <p14:creationId xmlns:p14="http://schemas.microsoft.com/office/powerpoint/2010/main" val="2273617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403238"/>
              </p:ext>
            </p:extLst>
          </p:nvPr>
        </p:nvGraphicFramePr>
        <p:xfrm>
          <a:off x="838200" y="2223407"/>
          <a:ext cx="10515600" cy="2411185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65535837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pl-P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CC10E52B-4737-0246-F249-66162AE7C87E}"/>
              </a:ext>
            </a:extLst>
          </p:cNvPr>
          <p:cNvSpPr txBox="1"/>
          <p:nvPr/>
        </p:nvSpPr>
        <p:spPr>
          <a:xfrm>
            <a:off x="4865370" y="1181100"/>
            <a:ext cx="2461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</a:t>
            </a:r>
            <a:r>
              <a:rPr lang="it-IT" b="1" dirty="0" err="1"/>
              <a:t>apply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763306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198382"/>
              </p:ext>
            </p:extLst>
          </p:nvPr>
        </p:nvGraphicFramePr>
        <p:xfrm>
          <a:off x="838200" y="2223407"/>
          <a:ext cx="10515600" cy="2411185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65535837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pl-P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AF4D0714-2977-EC27-0519-62A5ECA7989A}"/>
              </a:ext>
            </a:extLst>
          </p:cNvPr>
          <p:cNvSpPr txBox="1"/>
          <p:nvPr/>
        </p:nvSpPr>
        <p:spPr>
          <a:xfrm>
            <a:off x="4865370" y="1181100"/>
            <a:ext cx="2461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</a:t>
            </a:r>
            <a:r>
              <a:rPr lang="it-IT" b="1" dirty="0" err="1"/>
              <a:t>fun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1309648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9874655"/>
              </p:ext>
            </p:extLst>
          </p:nvPr>
        </p:nvGraphicFramePr>
        <p:xfrm>
          <a:off x="838200" y="2223407"/>
          <a:ext cx="10515600" cy="2411185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65535837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b"/>
                      <a:r>
                        <a:rPr lang="pl-PL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pl-P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6F479EFF-C9A0-F7DC-7691-0312C35EF8D9}"/>
              </a:ext>
            </a:extLst>
          </p:cNvPr>
          <p:cNvSpPr txBox="1"/>
          <p:nvPr/>
        </p:nvSpPr>
        <p:spPr>
          <a:xfrm>
            <a:off x="4865370" y="1181100"/>
            <a:ext cx="2461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</a:t>
            </a:r>
            <a:r>
              <a:rPr lang="it-IT" b="1" dirty="0" err="1"/>
              <a:t>fun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4213217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3493931"/>
              </p:ext>
            </p:extLst>
          </p:nvPr>
        </p:nvGraphicFramePr>
        <p:xfrm>
          <a:off x="838200" y="2223407"/>
          <a:ext cx="10515600" cy="2411185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65535837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⊥, 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⊥[f → </a:t>
                      </a:r>
                      <a:r>
                        <a:rPr lang="it-IT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it-IT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it-IT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 </a:t>
                      </a:r>
                      <a:b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 → </a:t>
                      </a:r>
                      <a:r>
                        <a:rPr lang="it-IT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CFC6A1C6-D9B4-9882-EBA4-33AAFE2D4B03}"/>
              </a:ext>
            </a:extLst>
          </p:cNvPr>
          <p:cNvSpPr txBox="1"/>
          <p:nvPr/>
        </p:nvSpPr>
        <p:spPr>
          <a:xfrm>
            <a:off x="4865370" y="1181100"/>
            <a:ext cx="2461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app</a:t>
            </a:r>
          </a:p>
        </p:txBody>
      </p:sp>
    </p:spTree>
    <p:extLst>
      <p:ext uri="{BB962C8B-B14F-4D97-AF65-F5344CB8AC3E}">
        <p14:creationId xmlns:p14="http://schemas.microsoft.com/office/powerpoint/2010/main" val="1660113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8651449"/>
              </p:ext>
            </p:extLst>
          </p:nvPr>
        </p:nvGraphicFramePr>
        <p:xfrm>
          <a:off x="838200" y="2223407"/>
          <a:ext cx="10515600" cy="2411185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65535837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⊥, 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⊥[f → fun(f, x,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</a:t>
                      </a:r>
                      <a:b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 →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BA04890E-5E4E-7579-64D2-6210CD951417}"/>
              </a:ext>
            </a:extLst>
          </p:cNvPr>
          <p:cNvSpPr txBox="1"/>
          <p:nvPr/>
        </p:nvSpPr>
        <p:spPr>
          <a:xfrm>
            <a:off x="4865370" y="1181100"/>
            <a:ext cx="2461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</a:t>
            </a:r>
            <a:r>
              <a:rPr lang="it-IT" b="1" dirty="0" err="1"/>
              <a:t>apply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4124076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7503626"/>
              </p:ext>
            </p:extLst>
          </p:nvPr>
        </p:nvGraphicFramePr>
        <p:xfrm>
          <a:off x="838200" y="2223407"/>
          <a:ext cx="10515600" cy="2411185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65535837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it-IT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⊥, 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l-P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pl-P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⊥[f → </a:t>
                      </a:r>
                      <a:r>
                        <a:rPr lang="it-IT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it-IT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it-IT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 x → </a:t>
                      </a:r>
                      <a:r>
                        <a:rPr lang="it-IT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CA7B535A-3EAF-A1AB-8AE5-65AFD1D8CB9F}"/>
              </a:ext>
            </a:extLst>
          </p:cNvPr>
          <p:cNvSpPr txBox="1"/>
          <p:nvPr/>
        </p:nvSpPr>
        <p:spPr>
          <a:xfrm>
            <a:off x="4865370" y="1181100"/>
            <a:ext cx="2461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</a:t>
            </a:r>
            <a:r>
              <a:rPr lang="it-IT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⊥(x)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948049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7240143"/>
              </p:ext>
            </p:extLst>
          </p:nvPr>
        </p:nvGraphicFramePr>
        <p:xfrm>
          <a:off x="838200" y="2223407"/>
          <a:ext cx="10515600" cy="2411185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65535837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⊥, 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l-P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pl-P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⊥[f →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 x →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BD4A0539-F48E-4230-67DE-D52258425CC1}"/>
              </a:ext>
            </a:extLst>
          </p:cNvPr>
          <p:cNvSpPr txBox="1"/>
          <p:nvPr/>
        </p:nvSpPr>
        <p:spPr>
          <a:xfrm>
            <a:off x="4865370" y="1181100"/>
            <a:ext cx="2461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</a:t>
            </a:r>
            <a:r>
              <a:rPr lang="it-IT" b="1" dirty="0" err="1"/>
              <a:t>apply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1413569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92191"/>
              </p:ext>
            </p:extLst>
          </p:nvPr>
        </p:nvGraphicFramePr>
        <p:xfrm>
          <a:off x="838200" y="2223407"/>
          <a:ext cx="10515600" cy="2411185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8223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65535837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⊥, 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l-P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pl-P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⊥[f → </a:t>
                      </a:r>
                      <a:r>
                        <a:rPr lang="it-IT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it-IT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it-IT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 x → </a:t>
                      </a:r>
                      <a:r>
                        <a:rPr lang="it-IT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8223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381EF8C0-29E8-64C8-DC7D-F3D5DDD4C0A3}"/>
              </a:ext>
            </a:extLst>
          </p:cNvPr>
          <p:cNvSpPr txBox="1"/>
          <p:nvPr/>
        </p:nvSpPr>
        <p:spPr>
          <a:xfrm>
            <a:off x="4450080" y="1173480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</a:t>
            </a:r>
            <a:r>
              <a:rPr lang="it-IT" b="1" dirty="0" err="1"/>
              <a:t>fun</a:t>
            </a:r>
            <a:r>
              <a:rPr lang="it-IT" dirty="0"/>
              <a:t> e </a:t>
            </a:r>
            <a:r>
              <a:rPr lang="it-IT" b="1" dirty="0"/>
              <a:t>costante</a:t>
            </a:r>
          </a:p>
        </p:txBody>
      </p:sp>
    </p:spTree>
    <p:extLst>
      <p:ext uri="{BB962C8B-B14F-4D97-AF65-F5344CB8AC3E}">
        <p14:creationId xmlns:p14="http://schemas.microsoft.com/office/powerpoint/2010/main" val="1727934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7209390"/>
              </p:ext>
            </p:extLst>
          </p:nvPr>
        </p:nvGraphicFramePr>
        <p:xfrm>
          <a:off x="838200" y="2025264"/>
          <a:ext cx="10515600" cy="2609328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848100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 </a:t>
                      </a:r>
                      <a:r>
                        <a:rPr lang="it-IT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z)),</a:t>
                      </a:r>
                      <a:b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⊥[f → </a:t>
                      </a:r>
                      <a:r>
                        <a:rPr lang="it-IT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it-IT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it-IT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 x → </a:t>
                      </a:r>
                      <a:r>
                        <a:rPr lang="it-IT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z))],</a:t>
                      </a:r>
                      <a:b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⊥, 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4978667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⊥[g → </a:t>
                      </a: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</a:t>
                      </a:r>
                      <a:b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 → 1]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times(y, 2)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8D974273-9074-F728-39FD-920F7D229E92}"/>
              </a:ext>
            </a:extLst>
          </p:cNvPr>
          <p:cNvSpPr txBox="1"/>
          <p:nvPr/>
        </p:nvSpPr>
        <p:spPr>
          <a:xfrm>
            <a:off x="4450080" y="1173480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app</a:t>
            </a:r>
          </a:p>
        </p:txBody>
      </p:sp>
    </p:spTree>
    <p:extLst>
      <p:ext uri="{BB962C8B-B14F-4D97-AF65-F5344CB8AC3E}">
        <p14:creationId xmlns:p14="http://schemas.microsoft.com/office/powerpoint/2010/main" val="2222286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5449578"/>
              </p:ext>
            </p:extLst>
          </p:nvPr>
        </p:nvGraphicFramePr>
        <p:xfrm>
          <a:off x="838200" y="2025264"/>
          <a:ext cx="10515600" cy="2609328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848100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z)),</a:t>
                      </a:r>
                      <a:b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⊥[f →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 x →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z))],</a:t>
                      </a:r>
                      <a:b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⊥, 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4978667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⊥[g → </a:t>
                      </a: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</a:t>
                      </a:r>
                      <a:b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 → 1]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Prim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(times)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1C6AD945-7ADD-C55B-2F70-3C72A869E900}"/>
              </a:ext>
            </a:extLst>
          </p:cNvPr>
          <p:cNvSpPr txBox="1"/>
          <p:nvPr/>
        </p:nvSpPr>
        <p:spPr>
          <a:xfrm>
            <a:off x="4450080" y="1173480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</a:t>
            </a:r>
            <a:r>
              <a:rPr lang="it-IT" b="1" dirty="0"/>
              <a:t>op</a:t>
            </a:r>
          </a:p>
        </p:txBody>
      </p:sp>
    </p:spTree>
    <p:extLst>
      <p:ext uri="{BB962C8B-B14F-4D97-AF65-F5344CB8AC3E}">
        <p14:creationId xmlns:p14="http://schemas.microsoft.com/office/powerpoint/2010/main" val="2589514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9368704"/>
              </p:ext>
            </p:extLst>
          </p:nvPr>
        </p:nvGraphicFramePr>
        <p:xfrm>
          <a:off x="838200" y="2025264"/>
          <a:ext cx="10515600" cy="2609328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848100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z)),</a:t>
                      </a:r>
                      <a:b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⊥[f →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 x →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z))],</a:t>
                      </a:r>
                      <a:b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⊥, 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4978667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⊥[g → </a:t>
                      </a:r>
                      <a:r>
                        <a:rPr lang="es-E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</a:t>
                      </a:r>
                      <a:b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 → 1]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Prim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(times)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A5C62BDF-EBD3-74A7-AA4D-114568CEFFF1}"/>
              </a:ext>
            </a:extLst>
          </p:cNvPr>
          <p:cNvSpPr txBox="1"/>
          <p:nvPr/>
        </p:nvSpPr>
        <p:spPr>
          <a:xfrm>
            <a:off x="4450080" y="1173480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</a:t>
            </a:r>
            <a:r>
              <a:rPr lang="it-I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⊥</a:t>
            </a:r>
            <a:r>
              <a:rPr lang="it-IT" b="1" dirty="0"/>
              <a:t>(y)</a:t>
            </a:r>
            <a:r>
              <a:rPr lang="it-IT" dirty="0"/>
              <a:t> e </a:t>
            </a:r>
            <a:r>
              <a:rPr lang="it-IT" b="1" dirty="0"/>
              <a:t>costante</a:t>
            </a:r>
          </a:p>
        </p:txBody>
      </p:sp>
    </p:spTree>
    <p:extLst>
      <p:ext uri="{BB962C8B-B14F-4D97-AF65-F5344CB8AC3E}">
        <p14:creationId xmlns:p14="http://schemas.microsoft.com/office/powerpoint/2010/main" val="1375140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3107389"/>
              </p:ext>
            </p:extLst>
          </p:nvPr>
        </p:nvGraphicFramePr>
        <p:xfrm>
          <a:off x="838200" y="2025264"/>
          <a:ext cx="10515600" cy="2609328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848100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z)),</a:t>
                      </a:r>
                      <a:b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⊥[f →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 x →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z))],</a:t>
                      </a:r>
                      <a:b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⊥, 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4978667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⊥[g → </a:t>
                      </a: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</a:t>
                      </a:r>
                      <a:b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 → 1]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5474A78F-FEC5-DBE2-A93E-FC7F41C136E6}"/>
              </a:ext>
            </a:extLst>
          </p:cNvPr>
          <p:cNvSpPr txBox="1"/>
          <p:nvPr/>
        </p:nvSpPr>
        <p:spPr>
          <a:xfrm>
            <a:off x="4450080" y="1173480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</a:t>
            </a:r>
            <a:r>
              <a:rPr lang="it-IT" dirty="0" err="1"/>
              <a:t>Prim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76621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4990534"/>
              </p:ext>
            </p:extLst>
          </p:nvPr>
        </p:nvGraphicFramePr>
        <p:xfrm>
          <a:off x="838200" y="2025264"/>
          <a:ext cx="10515600" cy="2609328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848100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⊥, 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4978667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l-P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pl-P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⊥[f →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 x →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9C3BB898-6DE2-8387-525A-52E4D2B07862}"/>
              </a:ext>
            </a:extLst>
          </p:cNvPr>
          <p:cNvSpPr txBox="1"/>
          <p:nvPr/>
        </p:nvSpPr>
        <p:spPr>
          <a:xfrm>
            <a:off x="4450080" y="1173480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terminale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690101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3594543"/>
              </p:ext>
            </p:extLst>
          </p:nvPr>
        </p:nvGraphicFramePr>
        <p:xfrm>
          <a:off x="838200" y="2025264"/>
          <a:ext cx="10515600" cy="2609328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848100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</a:t>
                      </a:r>
                      <a:b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⊥[f →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 x →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z))],</a:t>
                      </a:r>
                      <a:b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⊥, 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4978667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⊥[h → </a:t>
                      </a:r>
                      <a:r>
                        <a:rPr lang="pl-PL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z),</a:t>
                      </a:r>
                      <a:b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z → 2]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diff(8, z)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F49AA0BE-8F46-ADCA-75CA-C573E5F13AE3}"/>
              </a:ext>
            </a:extLst>
          </p:cNvPr>
          <p:cNvSpPr txBox="1"/>
          <p:nvPr/>
        </p:nvSpPr>
        <p:spPr>
          <a:xfrm>
            <a:off x="4450080" y="1173480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app</a:t>
            </a:r>
          </a:p>
        </p:txBody>
      </p:sp>
    </p:spTree>
    <p:extLst>
      <p:ext uri="{BB962C8B-B14F-4D97-AF65-F5344CB8AC3E}">
        <p14:creationId xmlns:p14="http://schemas.microsoft.com/office/powerpoint/2010/main" val="4109289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7741457"/>
              </p:ext>
            </p:extLst>
          </p:nvPr>
        </p:nvGraphicFramePr>
        <p:xfrm>
          <a:off x="838200" y="2025264"/>
          <a:ext cx="10515600" cy="2609328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848100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</a:t>
                      </a:r>
                      <a:b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⊥[f →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 x →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z))],</a:t>
                      </a:r>
                      <a:b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⊥, 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4978667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⊥[h → </a:t>
                      </a:r>
                      <a:r>
                        <a:rPr lang="pl-PL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z),</a:t>
                      </a:r>
                      <a:b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z → 2]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Prim(diff)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C42E8669-60DC-4AE2-B6FA-DAC1E11301C8}"/>
              </a:ext>
            </a:extLst>
          </p:cNvPr>
          <p:cNvSpPr txBox="1"/>
          <p:nvPr/>
        </p:nvSpPr>
        <p:spPr>
          <a:xfrm>
            <a:off x="4450080" y="1173480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</a:t>
            </a:r>
            <a:r>
              <a:rPr lang="it-IT" b="1" dirty="0"/>
              <a:t>op</a:t>
            </a:r>
          </a:p>
        </p:txBody>
      </p:sp>
    </p:spTree>
    <p:extLst>
      <p:ext uri="{BB962C8B-B14F-4D97-AF65-F5344CB8AC3E}">
        <p14:creationId xmlns:p14="http://schemas.microsoft.com/office/powerpoint/2010/main" val="1804986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2518489"/>
              </p:ext>
            </p:extLst>
          </p:nvPr>
        </p:nvGraphicFramePr>
        <p:xfrm>
          <a:off x="838200" y="2025264"/>
          <a:ext cx="10515600" cy="2609328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848100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</a:t>
                      </a:r>
                      <a:b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⊥[f →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 x →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z))],</a:t>
                      </a:r>
                      <a:b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⊥, 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4978667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⊥[h → </a:t>
                      </a:r>
                      <a:r>
                        <a:rPr lang="pl-PL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z),</a:t>
                      </a:r>
                      <a:b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z → 2]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Prim(diff)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23C17303-8C18-6AC5-3978-4DB19F16A7DF}"/>
              </a:ext>
            </a:extLst>
          </p:cNvPr>
          <p:cNvSpPr txBox="1"/>
          <p:nvPr/>
        </p:nvSpPr>
        <p:spPr>
          <a:xfrm>
            <a:off x="4450080" y="1173480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</a:t>
            </a:r>
            <a:r>
              <a:rPr lang="it-IT" b="1" dirty="0"/>
              <a:t>costante </a:t>
            </a:r>
            <a:r>
              <a:rPr lang="it-IT" dirty="0"/>
              <a:t>e</a:t>
            </a:r>
            <a:r>
              <a:rPr lang="it-IT" b="1" dirty="0"/>
              <a:t> </a:t>
            </a:r>
            <a:r>
              <a:rPr lang="it-IT" sz="1800" b="1" i="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⊥(z)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1241468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748825"/>
              </p:ext>
            </p:extLst>
          </p:nvPr>
        </p:nvGraphicFramePr>
        <p:xfrm>
          <a:off x="838200" y="2025264"/>
          <a:ext cx="10515600" cy="2609328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848100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</a:t>
                      </a:r>
                      <a:b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⊥[f →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 x → </a:t>
                      </a: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z))],</a:t>
                      </a:r>
                      <a:b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⊥, 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4978667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⊥[h → </a:t>
                      </a:r>
                      <a:r>
                        <a:rPr lang="pl-PL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z),</a:t>
                      </a:r>
                      <a:b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l-PL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z → 2]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A87114BF-3874-0741-9B26-458A50E3F9F9}"/>
              </a:ext>
            </a:extLst>
          </p:cNvPr>
          <p:cNvSpPr txBox="1"/>
          <p:nvPr/>
        </p:nvSpPr>
        <p:spPr>
          <a:xfrm>
            <a:off x="4450080" y="1173480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</a:t>
            </a:r>
            <a:r>
              <a:rPr lang="it-IT" dirty="0" err="1"/>
              <a:t>Prim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15726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8786063"/>
              </p:ext>
            </p:extLst>
          </p:nvPr>
        </p:nvGraphicFramePr>
        <p:xfrm>
          <a:off x="838200" y="2025264"/>
          <a:ext cx="10515600" cy="2609328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848100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([ ], ⊥, [ 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4978667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⊥[f →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(f, x,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(x,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apply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(g, y, times(y, 2)), 1))), x →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</a:t>
                      </a: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(h, z, diff(8, z))]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06C934A6-3AEF-1F6E-B89D-16602CFEDA52}"/>
              </a:ext>
            </a:extLst>
          </p:cNvPr>
          <p:cNvSpPr txBox="1"/>
          <p:nvPr/>
        </p:nvSpPr>
        <p:spPr>
          <a:xfrm>
            <a:off x="4450080" y="1173480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terminale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623817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9E0E0F2-9AD4-9D60-63ED-2FBD153E0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5919545"/>
              </p:ext>
            </p:extLst>
          </p:nvPr>
        </p:nvGraphicFramePr>
        <p:xfrm>
          <a:off x="838200" y="2025264"/>
          <a:ext cx="10515600" cy="2609328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2173437">
                  <a:extLst>
                    <a:ext uri="{9D8B030D-6E8A-4147-A177-3AD203B41FA5}">
                      <a16:colId xmlns:a16="http://schemas.microsoft.com/office/drawing/2014/main" val="1606499641"/>
                    </a:ext>
                  </a:extLst>
                </a:gridCol>
                <a:gridCol w="2471752">
                  <a:extLst>
                    <a:ext uri="{9D8B030D-6E8A-4147-A177-3AD203B41FA5}">
                      <a16:colId xmlns:a16="http://schemas.microsoft.com/office/drawing/2014/main" val="881836690"/>
                    </a:ext>
                  </a:extLst>
                </a:gridCol>
                <a:gridCol w="3686320">
                  <a:extLst>
                    <a:ext uri="{9D8B030D-6E8A-4147-A177-3AD203B41FA5}">
                      <a16:colId xmlns:a16="http://schemas.microsoft.com/office/drawing/2014/main" val="1979832134"/>
                    </a:ext>
                  </a:extLst>
                </a:gridCol>
                <a:gridCol w="2184091">
                  <a:extLst>
                    <a:ext uri="{9D8B030D-6E8A-4147-A177-3AD203B41FA5}">
                      <a16:colId xmlns:a16="http://schemas.microsoft.com/office/drawing/2014/main" val="2963474189"/>
                    </a:ext>
                  </a:extLst>
                </a:gridCol>
              </a:tblGrid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8090880"/>
                  </a:ext>
                </a:extLst>
              </a:tr>
              <a:tr h="848100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5776996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04978667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⊥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 ]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0419422"/>
                  </a:ext>
                </a:extLst>
              </a:tr>
              <a:tr h="440307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159283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1FB471C2-13A5-E47A-CBE2-2910C54E7E5F}"/>
              </a:ext>
            </a:extLst>
          </p:cNvPr>
          <p:cNvSpPr txBox="1"/>
          <p:nvPr/>
        </p:nvSpPr>
        <p:spPr>
          <a:xfrm>
            <a:off x="4450080" y="1173480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Valutazione terminale</a:t>
            </a:r>
            <a:endParaRPr lang="it-IT" b="1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15AE8AB-F1B6-9443-F8D4-C5FEECCEE689}"/>
              </a:ext>
            </a:extLst>
          </p:cNvPr>
          <p:cNvSpPr txBox="1"/>
          <p:nvPr/>
        </p:nvSpPr>
        <p:spPr>
          <a:xfrm>
            <a:off x="838200" y="5117044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Questo è uno stato finale, quindi la valutazione è terminate e il risultato è 6</a:t>
            </a:r>
          </a:p>
        </p:txBody>
      </p:sp>
    </p:spTree>
    <p:extLst>
      <p:ext uri="{BB962C8B-B14F-4D97-AF65-F5344CB8AC3E}">
        <p14:creationId xmlns:p14="http://schemas.microsoft.com/office/powerpoint/2010/main" val="1710972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010E1D-63C2-08FB-D9E8-F08ED9BB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Riscrittura dell’espressione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7515FD-DB08-272B-5193-8D3EED743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8475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In </a:t>
            </a:r>
            <a:r>
              <a:rPr lang="it-IT" dirty="0" err="1"/>
              <a:t>Ocaml</a:t>
            </a:r>
            <a:r>
              <a:rPr lang="it-IT" dirty="0"/>
              <a:t> l’espressione si riscrive come segue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1002476D-4EC4-AB20-1920-6E9D0508881F}"/>
              </a:ext>
            </a:extLst>
          </p:cNvPr>
          <p:cNvSpPr txBox="1">
            <a:spLocks/>
          </p:cNvSpPr>
          <p:nvPr/>
        </p:nvSpPr>
        <p:spPr>
          <a:xfrm>
            <a:off x="838200" y="2451416"/>
            <a:ext cx="10515600" cy="108712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da-DK" sz="140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b="1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da-DK" sz="1400" b="1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da-DK" sz="1400" dirty="0">
                <a:effectLst/>
                <a:latin typeface="Consolas" panose="020B0609020204030204" pitchFamily="49" charset="0"/>
              </a:rPr>
              <a:t>(z)</a:t>
            </a:r>
            <a:r>
              <a:rPr lang="da-DK" sz="140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a-DK" sz="1400" dirty="0">
                <a:effectLst/>
                <a:latin typeface="Consolas" panose="020B0609020204030204" pitchFamily="49" charset="0"/>
              </a:rPr>
              <a:t> (</a:t>
            </a:r>
            <a:r>
              <a:rPr lang="da-DK" sz="140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da-DK" sz="140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a-DK" sz="140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dirty="0">
                <a:effectLst/>
                <a:latin typeface="Consolas" panose="020B0609020204030204" pitchFamily="49" charset="0"/>
              </a:rPr>
              <a:t>z)</a:t>
            </a:r>
            <a:r>
              <a:rPr lang="da-DK" sz="140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;;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da-DK" sz="140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b="1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da-DK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da-DK" sz="1400" b="0" dirty="0">
                <a:effectLst/>
                <a:latin typeface="Consolas" panose="020B0609020204030204" pitchFamily="49" charset="0"/>
              </a:rPr>
              <a:t>(y)</a:t>
            </a:r>
            <a:r>
              <a:rPr lang="da-DK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a-DK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b="0" dirty="0">
                <a:effectLst/>
                <a:latin typeface="Consolas" panose="020B0609020204030204" pitchFamily="49" charset="0"/>
              </a:rPr>
              <a:t>y</a:t>
            </a:r>
            <a:r>
              <a:rPr lang="da-DK" sz="14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a-DK" sz="1400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a-DK" sz="14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;;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da-DK" sz="140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b="1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da-DK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da-DK" sz="1400" b="0" dirty="0">
                <a:effectLst/>
                <a:latin typeface="Consolas" panose="020B0609020204030204" pitchFamily="49" charset="0"/>
              </a:rPr>
              <a:t>(x)</a:t>
            </a:r>
            <a:r>
              <a:rPr lang="da-DK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a-DK" sz="1400" b="0" dirty="0">
                <a:effectLst/>
                <a:latin typeface="Consolas" panose="020B0609020204030204" pitchFamily="49" charset="0"/>
              </a:rPr>
              <a:t> x(g(</a:t>
            </a:r>
            <a:r>
              <a:rPr lang="da-DK" sz="1400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da-DK" sz="1400" b="0" dirty="0">
                <a:effectLst/>
                <a:latin typeface="Consolas" panose="020B0609020204030204" pitchFamily="49" charset="0"/>
              </a:rPr>
              <a:t>))</a:t>
            </a:r>
            <a:r>
              <a:rPr lang="da-DK" sz="14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;;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da-DK" sz="140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b="1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da-DK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es</a:t>
            </a:r>
            <a:r>
              <a:rPr lang="da-DK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a-DK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1400" b="0" dirty="0">
                <a:effectLst/>
                <a:latin typeface="Consolas" panose="020B0609020204030204" pitchFamily="49" charset="0"/>
              </a:rPr>
              <a:t>f(h)</a:t>
            </a:r>
            <a:r>
              <a:rPr lang="da-DK" sz="14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;;</a:t>
            </a:r>
            <a:endParaRPr lang="da-DK" sz="1400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ACE9E64E-4AF3-ED92-F7F3-CB1932739EAB}"/>
              </a:ext>
            </a:extLst>
          </p:cNvPr>
          <p:cNvSpPr txBox="1">
            <a:spLocks/>
          </p:cNvSpPr>
          <p:nvPr/>
        </p:nvSpPr>
        <p:spPr>
          <a:xfrm>
            <a:off x="838200" y="3538538"/>
            <a:ext cx="10515600" cy="498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Oppure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D61BEE52-17FD-86C9-8CEB-BB460EB81FD1}"/>
              </a:ext>
            </a:extLst>
          </p:cNvPr>
          <p:cNvSpPr txBox="1">
            <a:spLocks/>
          </p:cNvSpPr>
          <p:nvPr/>
        </p:nvSpPr>
        <p:spPr>
          <a:xfrm>
            <a:off x="838200" y="4164013"/>
            <a:ext cx="10515600" cy="2328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1400" b="0" dirty="0"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funz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0" dirty="0">
                <a:effectLst/>
                <a:latin typeface="Consolas" panose="020B0609020204030204" pitchFamily="49" charset="0"/>
              </a:rPr>
              <a:t>  </a:t>
            </a:r>
            <a:r>
              <a:rPr lang="en-US" sz="1400" b="1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(z) </a:t>
            </a:r>
            <a:r>
              <a:rPr lang="en-US" sz="14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z) </a:t>
            </a:r>
            <a:r>
              <a:rPr lang="en-US" sz="1400" b="1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(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sz="1400" b="1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h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(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0" dirty="0"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1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(y)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4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(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0" dirty="0">
                <a:effectLst/>
                <a:latin typeface="Consolas" panose="020B0609020204030204" pitchFamily="49" charset="0"/>
              </a:rPr>
              <a:t>        x(g(</a:t>
            </a:r>
            <a:r>
              <a:rPr lang="en-US" sz="1400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))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0" dirty="0">
                <a:effectLst/>
                <a:latin typeface="Consolas" panose="020B0609020204030204" pitchFamily="49" charset="0"/>
              </a:rPr>
              <a:t>         )))</a:t>
            </a:r>
            <a:r>
              <a:rPr lang="en-US" sz="1400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;;</a:t>
            </a:r>
            <a:endParaRPr lang="en-US" sz="1400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433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6F29E5-AC67-27DF-805F-8E8998602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528060" cy="1325563"/>
          </a:xfrm>
        </p:spPr>
        <p:txBody>
          <a:bodyPr/>
          <a:lstStyle/>
          <a:p>
            <a:r>
              <a:rPr lang="it-IT" dirty="0"/>
              <a:t>Risoluzione in formule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81FF4F-F7B7-2DB8-FB09-DD1F8BE6F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2994660" cy="16567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dirty="0"/>
              <a:t>Con le formule si risolve come segue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Zoomare per vedere</a:t>
            </a:r>
          </a:p>
        </p:txBody>
      </p:sp>
      <p:graphicFrame>
        <p:nvGraphicFramePr>
          <p:cNvPr id="8" name="Oggetto 7">
            <a:extLst>
              <a:ext uri="{FF2B5EF4-FFF2-40B4-BE49-F238E27FC236}">
                <a16:creationId xmlns:a16="http://schemas.microsoft.com/office/drawing/2014/main" id="{1DC60C0F-FA7A-C454-44CB-67DDEFAFD5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482992"/>
              </p:ext>
            </p:extLst>
          </p:nvPr>
        </p:nvGraphicFramePr>
        <p:xfrm>
          <a:off x="6096000" y="365125"/>
          <a:ext cx="3706813" cy="541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646456" imgH="9715669" progId="Word.Document.12">
                  <p:embed/>
                </p:oleObj>
              </mc:Choice>
              <mc:Fallback>
                <p:oleObj name="Document" r:id="rId2" imgW="6646456" imgH="97156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00" y="365125"/>
                        <a:ext cx="3706813" cy="541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7931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1756</Words>
  <Application>Microsoft Office PowerPoint</Application>
  <PresentationFormat>Widescreen</PresentationFormat>
  <Paragraphs>247</Paragraphs>
  <Slides>24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Tema di Office</vt:lpstr>
      <vt:lpstr>Documento di Microsoft Word</vt:lpstr>
      <vt:lpstr>Esercizio SECD</vt:lpstr>
      <vt:lpstr>Consegna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Riscrittura dell’espressione</vt:lpstr>
      <vt:lpstr>Risoluzione in formule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Esercizio SECD</dc:title>
  <dc:creator>LEONARDO DESSÌ</dc:creator>
  <cp:lastModifiedBy>LEONARDO DESSÌ</cp:lastModifiedBy>
  <cp:revision>3</cp:revision>
  <dcterms:created xsi:type="dcterms:W3CDTF">2022-12-05T18:57:11Z</dcterms:created>
  <dcterms:modified xsi:type="dcterms:W3CDTF">2022-12-05T21:22:09Z</dcterms:modified>
</cp:coreProperties>
</file>